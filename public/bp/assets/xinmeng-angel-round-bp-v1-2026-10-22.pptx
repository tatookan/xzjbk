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f0175e9df40f4" /><Relationship Type="http://schemas.openxmlformats.org/officeDocument/2006/relationships/extended-properties" Target="/docProps/app.xml" Id="R729e957a2e924d49" /><Relationship Type="http://schemas.openxmlformats.org/officeDocument/2006/relationships/officeDocument" Target="/ppt/presentation.xml" Id="Rc65fab84b9fd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8e19802d841f7"/>
  </p:sldMasterIdLst>
  <p:notesMasterIdLst>
    <p:notesMasterId xmlns:r="http://schemas.openxmlformats.org/officeDocument/2006/relationships" r:id="R8b7bc0cc793342f8"/>
  </p:notesMasterIdLst>
  <p:sldIdLst>
    <p:sldId xmlns:r="http://schemas.openxmlformats.org/officeDocument/2006/relationships" id="256" r:id="R5e26ac60b43c423c"/>
    <p:sldId xmlns:r="http://schemas.openxmlformats.org/officeDocument/2006/relationships" id="257" r:id="R19390f98750a4a73"/>
    <p:sldId xmlns:r="http://schemas.openxmlformats.org/officeDocument/2006/relationships" id="258" r:id="R6fd711d0442c4eff"/>
    <p:sldId xmlns:r="http://schemas.openxmlformats.org/officeDocument/2006/relationships" id="259" r:id="R9b6cf81712e54b85"/>
    <p:sldId xmlns:r="http://schemas.openxmlformats.org/officeDocument/2006/relationships" id="260" r:id="Rd8403c537c394b7a"/>
    <p:sldId xmlns:r="http://schemas.openxmlformats.org/officeDocument/2006/relationships" id="261" r:id="Rd1c6dc6e5edb466e"/>
    <p:sldId xmlns:r="http://schemas.openxmlformats.org/officeDocument/2006/relationships" id="262" r:id="Ra1d1432212a34adc"/>
    <p:sldId xmlns:r="http://schemas.openxmlformats.org/officeDocument/2006/relationships" id="263" r:id="R743f13cc384b41f2"/>
    <p:sldId xmlns:r="http://schemas.openxmlformats.org/officeDocument/2006/relationships" id="264" r:id="R67720438a9194d67"/>
    <p:sldId xmlns:r="http://schemas.openxmlformats.org/officeDocument/2006/relationships" id="265" r:id="R12535e7810284d49"/>
    <p:sldId xmlns:r="http://schemas.openxmlformats.org/officeDocument/2006/relationships" id="266" r:id="R4d0e0b04075a4a89"/>
    <p:sldId xmlns:r="http://schemas.openxmlformats.org/officeDocument/2006/relationships" id="267" r:id="Recf66bf73ad3407c"/>
    <p:sldId xmlns:r="http://schemas.openxmlformats.org/officeDocument/2006/relationships" id="268" r:id="Re32188d4acfa46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318889bd224d00" /><Relationship Type="http://schemas.openxmlformats.org/officeDocument/2006/relationships/slideMaster" Target="/ppt/slideMasters/slideMaster1.xml" Id="R3728e19802d841f7" /><Relationship Type="http://schemas.openxmlformats.org/officeDocument/2006/relationships/notesMaster" Target="/ppt/notesMasters/notesMaster1.xml" Id="R8b7bc0cc793342f8" /><Relationship Type="http://schemas.openxmlformats.org/officeDocument/2006/relationships/presProps" Target="/ppt/presProps.xml" Id="R3b85be2daa804fca" /><Relationship Type="http://schemas.openxmlformats.org/officeDocument/2006/relationships/tableStyles" Target="/ppt/tableStyles.xml" Id="Ra5032186fccf45fd" /><Relationship Type="http://schemas.openxmlformats.org/officeDocument/2006/relationships/slide" Target="/ppt/slides/slide1.xml" Id="R5e26ac60b43c423c" /><Relationship Type="http://schemas.openxmlformats.org/officeDocument/2006/relationships/slide" Target="/ppt/slides/slide2.xml" Id="R19390f98750a4a73" /><Relationship Type="http://schemas.openxmlformats.org/officeDocument/2006/relationships/slide" Target="/ppt/slides/slide3.xml" Id="R6fd711d0442c4eff" /><Relationship Type="http://schemas.openxmlformats.org/officeDocument/2006/relationships/slide" Target="/ppt/slides/slide4.xml" Id="R9b6cf81712e54b85" /><Relationship Type="http://schemas.openxmlformats.org/officeDocument/2006/relationships/slide" Target="/ppt/slides/slide5.xml" Id="Rd8403c537c394b7a" /><Relationship Type="http://schemas.openxmlformats.org/officeDocument/2006/relationships/slide" Target="/ppt/slides/slide6.xml" Id="Rd1c6dc6e5edb466e" /><Relationship Type="http://schemas.openxmlformats.org/officeDocument/2006/relationships/slide" Target="/ppt/slides/slide7.xml" Id="Ra1d1432212a34adc" /><Relationship Type="http://schemas.openxmlformats.org/officeDocument/2006/relationships/slide" Target="/ppt/slides/slide8.xml" Id="R743f13cc384b41f2" /><Relationship Type="http://schemas.openxmlformats.org/officeDocument/2006/relationships/slide" Target="/ppt/slides/slide9.xml" Id="R67720438a9194d67" /><Relationship Type="http://schemas.openxmlformats.org/officeDocument/2006/relationships/slide" Target="/ppt/slides/slide10.xml" Id="R12535e7810284d49" /><Relationship Type="http://schemas.openxmlformats.org/officeDocument/2006/relationships/slide" Target="/ppt/slides/slide11.xml" Id="R4d0e0b04075a4a89" /><Relationship Type="http://schemas.openxmlformats.org/officeDocument/2006/relationships/slide" Target="/ppt/slides/slide12.xml" Id="Recf66bf73ad3407c" /><Relationship Type="http://schemas.openxmlformats.org/officeDocument/2006/relationships/slide" Target="/ppt/slides/slide13.xml" Id="Re32188d4acfa46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03329a97854e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8c6b2305984852" /><Relationship Type="http://schemas.openxmlformats.org/officeDocument/2006/relationships/notesMaster" Target="/ppt/notesMasters/notesMaster1.xml" Id="R32cdd63e068e4d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7a7f68d2164d39" /><Relationship Type="http://schemas.openxmlformats.org/officeDocument/2006/relationships/notesMaster" Target="/ppt/notesMasters/notesMaster1.xml" Id="Rf9d13116e15e4f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512118ab8420a" /><Relationship Type="http://schemas.openxmlformats.org/officeDocument/2006/relationships/notesMaster" Target="/ppt/notesMasters/notesMaster1.xml" Id="R7f1856115cf64a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cf3172701f464a" /><Relationship Type="http://schemas.openxmlformats.org/officeDocument/2006/relationships/notesMaster" Target="/ppt/notesMasters/notesMaster1.xml" Id="Raf054883d5f1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a79a9846c947df" /><Relationship Type="http://schemas.openxmlformats.org/officeDocument/2006/relationships/notesMaster" Target="/ppt/notesMasters/notesMaster1.xml" Id="R694b72520f7c46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97cb4d1fd24436" /><Relationship Type="http://schemas.openxmlformats.org/officeDocument/2006/relationships/notesMaster" Target="/ppt/notesMasters/notesMaster1.xml" Id="R1035ed5b1c4644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235d4cb7f404b" /><Relationship Type="http://schemas.openxmlformats.org/officeDocument/2006/relationships/notesMaster" Target="/ppt/notesMasters/notesMaster1.xml" Id="Red411dc0040a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764cccc35b42e3" /><Relationship Type="http://schemas.openxmlformats.org/officeDocument/2006/relationships/notesMaster" Target="/ppt/notesMasters/notesMaster1.xml" Id="Rc423a2cadb154e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8308c37f8e45bc" /><Relationship Type="http://schemas.openxmlformats.org/officeDocument/2006/relationships/notesMaster" Target="/ppt/notesMasters/notesMaster1.xml" Id="Re1f7bc5922ee45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dda793b244137" /><Relationship Type="http://schemas.openxmlformats.org/officeDocument/2006/relationships/notesMaster" Target="/ppt/notesMasters/notesMaster1.xml" Id="R253554ee023a4e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30660982604167" /><Relationship Type="http://schemas.openxmlformats.org/officeDocument/2006/relationships/notesMaster" Target="/ppt/notesMasters/notesMaster1.xml" Id="Ref1d75e13f8a44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f0c808633c4ad9" /><Relationship Type="http://schemas.openxmlformats.org/officeDocument/2006/relationships/notesMaster" Target="/ppt/notesMasters/notesMaster1.xml" Id="Rd4decf79d43049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67c5dd487b47e5" /><Relationship Type="http://schemas.openxmlformats.org/officeDocument/2006/relationships/notesMaster" Target="/ppt/notesMasters/notesMaster1.xml" Id="R4f1860f7753e46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数据来源：心术完整快照，采集于2026-10-22 13:20，后台数据截至2026-10-19；成本表匹配：项目算力核算表。</a:t>
            </a:r>
          </a:p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数据来源：心术完整快照，采集于2026-10-22 13:20，后台数据截至2026-10-19；成本表匹配：项目算力核算表。</a:t>
            </a:r>
          </a:p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数据来源：心术完整快照，采集于2026-10-22 13:20，后台数据截至2026-10-19；成本表匹配：项目算力核算表。</a:t>
            </a:r>
          </a:p>
          <a:p xmlns:a="http://schemas.openxmlformats.org/drawingml/2006/main">
            <a:r>
              <a:t>17 部累计 13,982,981；去除最高 4,092,028 与最低 2,245 后，中间15部均值 659,247。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数据来源：心术完整快照，采集于2026-10-22 13:20，后台数据截至2026-10-19；成本表匹配：项目算力核算表。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数据来源：心术完整快照，采集于2026-10-22 13:20，后台数据截至2026-10-19；成本表匹配：项目算力核算表。</a:t>
            </a:r>
          </a:p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  <a:p xmlns:a="http://schemas.openxmlformats.org/drawingml/2006/main">
            <a:r>
              <a:t>团队参与项目累计播放存在项目重叠，不相加，不等同于个人独立贡献。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数据来源：心术完整快照，采集于2026-10-22 13:20，后台数据截至2026-10-19；成本表匹配：项目算力核算表。</a:t>
            </a:r>
          </a:p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  <a:p xmlns:a="http://schemas.openxmlformats.org/drawingml/2006/main">
            <a:r>
              <a:t>单部：65.92472万×¥100/万=¥6,592.47。公司比例为51%。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经营规则与测算假设来自创始人访谈。有效播放金额仅为预估结算情景，不是已到账收入或利润。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b941db37e44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b5cbb6aa24e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810b9e93f42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b2bc23bf046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f4acff7f045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8cdd73d9d4d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5B89F6-7B58-4990-B40F-891E730B7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FFE824-A5C4-4DF5-A65C-08CF06A4FA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9B071A-2CF2-4B4F-A5E6-D91BDFDB29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BC7B97-7069-4520-B456-40B5A00AD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95869D-2DC9-46B0-BA50-EA8B043B9F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2FB74B-7AC9-41A1-B0D7-295F785291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8FF083-A0AD-4B0F-B49A-53AE38754C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6C7A3C-D74F-459A-80FE-90B744A525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692FFB-0D26-49C4-A7B2-79E4212B77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ECD698-01DD-4A86-A47A-1FD7A8EB56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e34ad59e044fca" /><Relationship Type="http://schemas.openxmlformats.org/officeDocument/2006/relationships/slideLayout" Target="/ppt/slideLayouts/slideLayout1.xml" Id="R8f2e8dd6e4c549d5" /><Relationship Type="http://schemas.openxmlformats.org/officeDocument/2006/relationships/slideLayout" Target="/ppt/slideLayouts/slideLayout2.xml" Id="Ra5f4e7a2989f4d83" /><Relationship Type="http://schemas.openxmlformats.org/officeDocument/2006/relationships/slideLayout" Target="/ppt/slideLayouts/slideLayout3.xml" Id="R693ac3934a2e4897" /><Relationship Type="http://schemas.openxmlformats.org/officeDocument/2006/relationships/slideLayout" Target="/ppt/slideLayouts/slideLayout4.xml" Id="R57e5bff3bf84465e" /><Relationship Type="http://schemas.openxmlformats.org/officeDocument/2006/relationships/slideLayout" Target="/ppt/slideLayouts/slideLayout5.xml" Id="Ra2c6ad0dc64f4f06" /><Relationship Type="http://schemas.openxmlformats.org/officeDocument/2006/relationships/slideLayout" Target="/ppt/slideLayouts/slideLayout6.xml" Id="Rb47430daa46444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2e8dd6e4c549d5"/>
    <p:sldLayoutId xmlns:r="http://schemas.openxmlformats.org/officeDocument/2006/relationships" id="2147483650" r:id="Ra5f4e7a2989f4d83"/>
    <p:sldLayoutId xmlns:r="http://schemas.openxmlformats.org/officeDocument/2006/relationships" id="2147483651" r:id="R693ac3934a2e4897"/>
    <p:sldLayoutId xmlns:r="http://schemas.openxmlformats.org/officeDocument/2006/relationships" id="2147483652" r:id="R57e5bff3bf84465e"/>
    <p:sldLayoutId xmlns:r="http://schemas.openxmlformats.org/officeDocument/2006/relationships" id="2147483653" r:id="Ra2c6ad0dc64f4f06"/>
    <p:sldLayoutId xmlns:r="http://schemas.openxmlformats.org/officeDocument/2006/relationships" id="2147483654" r:id="Rb47430daa46444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1ba17a8a14836" /><Relationship Type="http://schemas.openxmlformats.org/officeDocument/2006/relationships/notesSlide" Target="/ppt/notesSlides/notesSlide1.xml" Id="R8beb36275e8441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b873ce96d437b" /><Relationship Type="http://schemas.openxmlformats.org/officeDocument/2006/relationships/notesSlide" Target="/ppt/notesSlides/notesSlide2.xml" Id="R9cea0f43e02244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2728eb0704127" /><Relationship Type="http://schemas.openxmlformats.org/officeDocument/2006/relationships/notesSlide" Target="/ppt/notesSlides/notesSlide3.xml" Id="Rc39d221f4abb47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73f7e8eed4f70" /><Relationship Type="http://schemas.openxmlformats.org/officeDocument/2006/relationships/notesSlide" Target="/ppt/notesSlides/notesSlide4.xml" Id="R20ba8b97f52043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cc4adcd44486d" /><Relationship Type="http://schemas.openxmlformats.org/officeDocument/2006/relationships/notesSlide" Target="/ppt/notesSlides/notesSlide5.xml" Id="R75f19a2df1e14e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735c15fc94ea5" /><Relationship Type="http://schemas.openxmlformats.org/officeDocument/2006/relationships/notesSlide" Target="/ppt/notesSlides/notesSlide6.xml" Id="R4243a669eb5c4c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f9101b9b345e1" /><Relationship Type="http://schemas.openxmlformats.org/officeDocument/2006/relationships/notesSlide" Target="/ppt/notesSlides/notesSlide7.xml" Id="R55e192c670d74c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469cffcf5413d" /><Relationship Type="http://schemas.openxmlformats.org/officeDocument/2006/relationships/notesSlide" Target="/ppt/notesSlides/notesSlide8.xml" Id="R2b3f6db50e3a45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23d1872934a34" /><Relationship Type="http://schemas.openxmlformats.org/officeDocument/2006/relationships/notesSlide" Target="/ppt/notesSlides/notesSlide9.xml" Id="Rf5ff915a46cb46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447941f694457" /><Relationship Type="http://schemas.openxmlformats.org/officeDocument/2006/relationships/notesSlide" Target="/ppt/notesSlides/notesSlide10.xml" Id="R50ad299cd0f94d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0c068966547c9" /><Relationship Type="http://schemas.openxmlformats.org/officeDocument/2006/relationships/notesSlide" Target="/ppt/notesSlides/notesSlide11.xml" Id="R17867cbdb90e43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b7e1369d14c19" /><Relationship Type="http://schemas.openxmlformats.org/officeDocument/2006/relationships/notesSlide" Target="/ppt/notesSlides/notesSlide12.xml" Id="Rf5daf8659aac4f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4de3978424ed8" /><Relationship Type="http://schemas.openxmlformats.org/officeDocument/2006/relationships/notesSlide" Target="/ppt/notesSlides/notesSlide13.xml" Id="Rbb1d6ddb33ba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0DD700A-E2F9-40FD-9C1E-0E3773EB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C6E5C-7283-4BAD-844B-BB7240CA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372B9-F1EB-438A-95D9-E963830D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09284-A148-445B-8784-240EFE2B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B8B67-302D-4F2B-9411-CBB66A5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DEB22-B52C-4EB2-B246-5001177A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43040-6444-45DD-BCAA-C18FADA4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4EB8D-CF23-47ED-9E1C-CE0B780C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009EC-7F06-4185-B360-AE87DF64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663A2-38BC-4CE5-BF3F-99EAC59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6DA46-5C3E-497E-9D08-08380A34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E7ACA-DB7F-4763-9A95-C37CE061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C592A-BECC-4AF4-859A-61752F23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6FB69-ABE9-4136-937F-CA9ADDC4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D0F66-29BA-4F9D-8A2F-419725DE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5D4D3-14CB-48B3-99CC-9B963275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081E7-77B2-4FCB-8F5D-5FCBFF69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274A3-C08E-4D26-A3AE-41457881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D3E1D-9681-47D3-9A7B-696C358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170D5-760E-42B0-AF8E-58B0F80C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DF4BE-86E7-43A4-A55E-5CDF4851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4F896-973F-4F35-80EB-7FBD47A9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16250-8FE6-40BA-A6E8-F5FB38B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ECBFF-FD73-4E3F-A733-762F492C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902D5-FBE3-432C-9B24-25AC623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6C9B9-D6C4-43D7-AC04-121BCBE9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6E87B-F989-41F3-8ECF-6E0CAF3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6C82D7-2D50-42C9-BB22-635BCF9F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79926-EBE2-49A5-8433-3D3C909E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7DA7DD-BFBE-4555-9B45-A532A532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F14F81-A966-4691-8E22-49C6B4D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8010D9-34DB-4B0C-9898-0235873B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730536-2D19-4E3F-8C08-95017DF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5A8449-46DB-49CF-89E4-98070440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35E583-050A-40BB-82B4-8DAD8D28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A5A282-0004-434A-A0A4-EE7CC3BC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C6A156-DC56-4228-8FF8-B1D20AE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79FE50-CEF1-4B9B-B697-3EB51517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A954DB-3F49-45EB-B62D-8A5C4D5C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289D21-3952-47F2-8EB2-629DECE2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FBECAC-55AF-479E-A02C-3DE56E00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559628-7CF2-4AF8-A209-2E2907A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7190AE-73B5-45B2-A15A-F8B5F704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5D84EC-9007-4DA5-884A-83642A9A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564905-FF51-4F24-BD16-79DCBABB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F9C73B-9AC3-4143-942D-3FB57E87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19DCB5-7C44-4519-B235-30E9817F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334962-D575-4800-8D34-D2C520E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EA689C-BBB3-431A-8E96-4359FF5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7C198E-26E9-412A-A0D5-E96CBA4D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F1D9FB-5C77-4608-8C47-C49A36F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1675ED-C7C2-4C39-9199-B85B6481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9256E4-AAAC-4C6D-91AE-AD903033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2B3416-2CD9-411F-A712-A6F48AA9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9C72BE-4C3D-478C-A653-534BB8BF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182367-F1A0-4771-B11F-19881AF4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5F8291-6BA1-4C04-B161-DF9ADC96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B150B6-E542-4383-8B6B-C5DBB78E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64661C-77B0-41BA-B346-587FDB9B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D2B8BC-9E17-4263-AAE3-5C21C02A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D9290B-4A82-41B1-AE64-11DF0284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0A5347-D2FB-40C6-BD86-22DAFE3D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A1292A-BBD2-4AFE-A1AF-F7513807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0783D5-21D8-4D1A-AFA7-458734BA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164D2B-5295-4DB0-A086-921B3E82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5D6E86-AB1E-46EF-A4FC-79267128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36E88E-DF6A-4595-B3DF-0CFCAF9F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D022F1-95CE-4F10-B6F4-4E79A0C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A28050-232C-4BB7-8625-48631313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BED07B-FBB9-425C-9DE6-D5A9CA64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666BD3-22A2-4974-BACF-54A453E8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D1CF20-A91A-42C8-9451-1457E6D0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407E99-8137-4DC4-BC95-490D2E76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F818DC-EA97-4D5F-BF1A-C9509520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9FFD8E-C01A-4AB0-8A6B-7A3AA9AF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558B39-5ED0-4790-B8DB-18950517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729629-96E9-4B10-A47A-2F495FB3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96473C-9ACF-4A18-9156-917509E4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A527FFE-016E-4A6A-8B06-EC32440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BA4D4C-E981-41CC-861C-CC8B77F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C129B82-6C50-49F0-B518-0260F8F4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1367EF5-BC10-4619-BEE1-F36A3EC0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D0C0B5C-917E-46C0-BDC1-748DA79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7E1CD5-460D-47D2-9C6B-34F75966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7024CE7-83B4-4AA1-ACFE-3DCCC33B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E5253A9-F936-4948-ACFB-FA405416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2C6A29-C2E6-4CDA-929D-B5D4DEB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E84B59-810F-4361-9C8C-AB7F1CEC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CD8924-6CEC-4721-A6D8-2AEE8BDA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BD5341B-38D2-46B0-BF6A-B194962D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F366B04-3379-44C0-A7DD-3FE02420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252F411-6D22-4DBF-BBBB-DCF4CF0D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F8EEBF6-7616-403F-9CBF-39AF36A8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F84226-55E3-4F7A-A44C-246716D7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668A56D-362B-4829-B1BE-54B5CFAA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E4C7B9A-6784-4928-9347-D00C43A5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79EB36B-7838-4E17-BA80-7A4A510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FDC666-7D20-4258-8C65-0C4EDF5E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19715A-159E-41D5-8BB1-C3B3DB1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3606C30-0B6D-4BCE-AFB6-17969FA2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6ADC6D1-832F-41CE-82B7-F1F3C95B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05E996-E1D6-48F0-B6DB-CBDD43D4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25F98C-B9DD-4D89-8B72-A7FE9F2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A2E6CB-5383-4BCA-AC33-2ADFC7AA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CF32165-F970-41C9-B229-20111BD5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AFF266-3C43-4907-9235-0287DB7E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E9E01F-13DA-4A03-A4EC-2A7998D4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7E0FEF7-5FFD-43CF-8737-C4D221D2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856A01-DA0A-4911-8DD3-AD2A2B7B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9F259E2-61AC-439D-879B-29693E83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9487257-8C15-4907-B5E5-847CEA61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BD81D94-B55E-4B05-B30C-F1FCA9F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337D01-AC8B-4FB4-BD59-30DBFD3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6AAB67D-4B5A-473B-878F-590CC872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36CBF9B-42CB-42C7-8651-30038D33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95814FE-4C8E-4758-91CE-551535A2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6FD609-4494-4F00-9144-33E83B24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979B46F-070E-49C8-9210-536FB8A5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8A66E5E-848F-400E-9F3B-96D40E4E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0675509-7B53-4850-82E5-AEBEECE2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37EA2DC-777D-4EC9-970C-DBA31B7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B5136EC-0531-4202-8F9A-6D232F5A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642A7A3-6353-4FD9-A88F-0960C5C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67113FE-81E5-4A3C-80AD-D634D4F8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E69AB7-DE22-4F22-89F9-E3478BE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B76B938-6E0C-4E22-943D-F92DB686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0CBC07C-8C0B-40D9-B7BB-A5EC174E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1188781-DA49-4F90-BABF-2590229C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C05E170-E0F8-490B-9378-6D84505B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AC48278-F083-42F0-8F65-22E8A7B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8B9CFA5-6914-4A77-B674-3FADDBBC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A5083EB-A312-4F4D-B2BC-994F183F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47CF685-8639-4345-870B-40E5C095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EDE81FA-7430-402D-8305-969BD0C9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C2F2EAE-E94F-4B83-B3D8-774F4953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400F66A-AC42-494B-ABE3-F6FD338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624D945-DAAE-4CA6-B32D-30004D4C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06AF3E8-A881-4BA0-ABEF-3CA00D1E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FD01821-0395-4E90-A9D3-4A49A6B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DB97A36-92FF-48E5-9CFF-B0F65D43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BE8B9E5-1EF4-44C6-B83D-7CD38C80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E628B2E-B6FC-4839-AA94-6A712C3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73A0063-B251-4809-97A2-86E50D9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0ADBA44-766C-4EB8-B140-412C5B1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DC7CE9C-2FDF-49FB-9293-FFAD128D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0C8EFA2-4DC4-43C8-B43D-D1F92AC4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5E10E29-BD3C-496F-A51F-00846110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9AAEA2A-02DD-40A7-95FF-3DAE9A16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F1DFE98-91CF-49C0-8EDE-B0BC9DD2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832D1ED-B8A9-4F0F-A075-CE9E71E4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B9C8AB5-67C7-40BA-82B5-091851DF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DBA96B3-4779-4816-BCBB-F8F37AC6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7098599-CE0A-4DE9-B702-46A16266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5B73EDA-37FE-4DAA-8EE5-77B64C1D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49FC878-6CF7-493A-BA3D-6BDE8A56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7EF44E9-2B14-4A42-BE2F-38CC73C5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AA427D-B44E-4999-BC4E-40F4E4F4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13926A6-E692-427B-8750-5962C320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CF1DB29-8DB2-4B6C-9378-56FC2285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AF28128-DF1A-4D25-9952-00EECDB5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DFDA752-1D09-402F-AE95-51B5026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CE650E7-7A89-49D6-82D3-52A4717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14942DC-CFD1-4545-A7D2-85D94083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FBC9CA8-FF3F-4F51-B36E-F50363D1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EE3933F-7794-44A8-B70E-D67562D4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2FACC3E-136C-4854-937E-5F083420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EB28C6D-B77F-450C-91AD-A8F0FAA6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4E346B4-A14A-4794-BC9D-500CED56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4FB6614-DC3B-4A20-9759-14649F03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4395A99-D4BE-4FF1-9E08-2CFAEBDA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4A2C83B-7A75-4C06-93E5-A8420D7F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CEBD60A-3459-44AE-A74D-ACFB65A2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6BE7A76-9A2B-4F59-9DE5-214561EA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159E019-BFDA-4A39-974C-0921151A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E6E7DE4-7C9A-4EEA-9B9A-437967D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2DB3E91-2AF2-46C1-8D6B-CC87F91A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F65C741-F96F-468E-B80E-26518B36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C86D563-F213-4C7B-BB41-5331A71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E2B40FF-A915-4271-B661-4F641931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74C1EA4-F8CB-4B98-80CB-21FD1B6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CDCAD0C-C016-4B9B-BD05-EE0610D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DB64AB9-3955-4F3D-A67F-1390EB4C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EC7B576-4CE9-4FF3-B569-9263C593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00F3870-C530-4F84-BE43-768808D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578CDAE-79A5-4BF0-AF1A-94FD7356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5755346-E91E-4761-B751-E53F61B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04D6275-6290-455C-A6E5-27AE40BA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CF554C0-1F20-42AF-B6AD-FDE062B3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40D4769-054A-4633-94D4-06D154DB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C92CAF5-6B96-433F-8EFB-8C310DED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02E3C53-285C-48E4-AC0E-B7FAF655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1F86D97-3BD9-44D4-8C05-B29E8E52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A2EB43A-EA62-45FC-A6FD-1E143C29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CBCFB98-FFB9-4A58-ABCF-6C4F1E90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29B3AC5-042A-4DFA-A076-EE0EADEC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B5DD4EE-43A9-40B4-A451-0E7139A7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7444571-9737-4515-A209-CBD8BE2F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B292884-46FC-4957-8AA3-873BDA24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A64A230-77F7-4B83-A59C-CE9AB38B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0F08050-5299-4700-9C67-7985128E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C738281-1AF7-4F0A-A4AE-543628A5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A263CA8-32B4-4998-A0D9-4CD17572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118F273-62A1-4A74-8FDA-B7BBD13C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6E27E4A-B7D0-47AF-B883-21BE5575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8BC1D46-6AF8-4D38-8C08-F2F7A0A3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70458D6-9D34-449D-A6BD-0BE013A8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257AAC0-9C19-4022-97A1-986865C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7D14B45-F5E9-4D07-84F4-84D11980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6DE26488-CC9B-4F10-8FD1-EE82B7E4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F10E0C0-4E8E-4409-AB5D-AE648D15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5E50D66-01ED-4E9B-A939-9944C876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2AAE25C-19F0-41CD-93C0-C5D93E2F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5CA32B9-DF19-4A3C-A2F9-CF3A35A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0E0A4F4-22C3-4263-AC2E-AA519F62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0AA2BCA-D83C-4037-8A54-3D3D679F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DD8300C-1D07-4D8C-8103-781A101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D1FC075-2C92-463E-8BF5-2FCE671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DC08E04-3029-4EA5-ABB8-CB90A16C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7731EA3-8143-4E30-B876-9E928EFE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FF72F8F-AFE9-40B1-A620-341C821C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73BD4C1-E416-4643-AE32-0B0C305A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90012DF-6F37-4D00-A1E1-7A91589C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CF3EE66-AF57-4067-BB56-C7080D4C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A2D3358-75C6-430D-AEC2-73F78D35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9F2A9D1-A322-4B89-8373-0F6A9DA9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C6E33EE-A831-4D89-A126-E8FE8022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7E023F11-2F91-485E-A7E1-675008CE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7AE0441-EDD9-437F-952B-47D303EA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13CBE23-4058-4503-9493-FFA130AE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DECF2F9-BAC4-47C0-A4A0-18FF2D06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1FD7FAC4-9D39-456B-85D2-2E97D98F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CF56E00-A665-445E-8A95-E18A9D52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43955FD-B8B4-47B0-AFB3-7513150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59CEA00-DDE3-45B0-9130-76DD51FE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A394C34-42A2-41D3-B450-67B2C28A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166C8AD-73C3-4FFF-8D03-250EC48F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6EE4450-2B1E-44A3-87E1-964FD984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944437B-9A32-4ED2-B589-2C2284C2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8163BD99-3565-45E6-AFE0-C72DC559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71441E0-09B7-4425-9A53-9D0641A8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128162A-D57F-4419-A985-BF987EBD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3475765-492D-4C32-9CD4-22FD9145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0124311-555F-4F07-80F0-CD5A1A7D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00AE686-AA5E-4E8D-81C0-73429EB0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E2A38AF-3731-45E0-B556-2AD2FB76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27A78FD-8665-49AE-82A8-2E4111AD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C4BC6F7-69E9-4BD9-B5DA-D082329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0C05B95-961C-444C-9257-AA86EDD6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E5C067C-F75A-459F-9B11-5FDEF6E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93E7A8C-5536-476A-BB20-1E485DEA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E0FAC65-D9F4-4AE3-991D-3B372985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E002091-D4B0-4894-9E9C-AB772347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E025CF6-38CE-431A-BAD6-FC48C76E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940B6FE-ACFA-42AC-851E-2BE7F17F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AA3B0B1-F74C-429F-8626-A5E5DC72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61E237D-6FB3-4BD9-BA01-55047F5C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01D778F-B2FC-4E5C-AA6A-17780908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4893CAF-1A50-45FC-B73C-C0426B80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138A3E5-335C-4DBD-800C-13D63424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6F9AF1C-EAE7-4AC5-87E4-BDC979E7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27DAB85-3B8F-4330-A459-9AC0425E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8EA7B49-9568-44B7-B242-B7127E46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7059BF2-8A3F-445B-8B88-52545ACE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C9A662D1-74AE-4B08-944C-F9DD5F51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BD08BBD-03B1-40CE-9522-D29C15A5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E77B497-F626-4D8A-9838-B7CD5D96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9E2EB63-96A9-486A-BFA4-9ACFBF2C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0D51045-B68D-4115-B20D-8FF34941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52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93669C4-904B-43B3-8EF7-F4F706F1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04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9C4F806-00B2-4446-9364-9AF9D881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57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DDEDF57-7182-4E90-B127-23099826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009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0C23B096-CB2C-4E2F-AF53-FBE09398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162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D4D69F3-E7CB-403F-A6C8-4AEC310A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314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B99C3460-1E3E-47A3-928A-5CA3683C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466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499F8D15-53FF-43C1-8224-12E5E729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619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B23B845-C10D-4E11-90BA-D282076A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771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03FC9844-7041-4385-8249-085DD41D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9240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A0581F2-C907-4E91-982C-53DB5AD5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076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6609F8B4-253A-44C3-8858-4B77AFBD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228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BB463FC8-7BD1-4B3E-BA99-76F45F81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3812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FDFB5D92-3439-4873-9F8A-223F6830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5336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27A"/>
          </a:solidFill>
          <a:ln xmlns:a="http://schemas.openxmlformats.org/drawingml/2006/main" w="0">
            <a:solidFill>
              <a:srgbClr val="38527A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FBFFAF93-9172-49B8-BDAB-FAC5B1AA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A8C7FF"/>
                </a:solidFill>
              </a:defRPr>
            </a:pPr>
            <a:r>
              <a:rPr sz="750" b="1">
                <a:solidFill>
                  <a:srgbClr val="A8C7FF"/>
                </a:solidFill>
              </a:rPr>
              <a:t>ANGEL ROUND / 2026.10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F859F6A-4A10-4895-B6EF-D032B66E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7F6F1"/>
                </a:solidFill>
              </a:defRPr>
            </a:pPr>
            <a:r>
              <a:rPr sz="4350" b="1">
                <a:solidFill>
                  <a:srgbClr val="F7F6F1"/>
                </a:solidFill>
              </a:rPr>
              <a:t>新梦工作室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79CFBA4-2CB8-4C1C-A52C-1109D3B9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8C7FF"/>
                </a:solidFill>
              </a:defRPr>
            </a:pPr>
            <a:r>
              <a:rPr sz="2250" b="1">
                <a:solidFill>
                  <a:srgbClr val="A8C7FF"/>
                </a:solidFill>
              </a:rPr>
              <a:t>海外 AI 短剧业务</a:t>
            </a:r>
          </a:p>
          <a:p xmlns:a="http://schemas.openxmlformats.org/drawingml/2006/main">
            <a:pPr>
              <a:defRPr sz="2250" b="1">
                <a:solidFill>
                  <a:srgbClr val="A8C7FF"/>
                </a:solidFill>
              </a:defRPr>
            </a:pPr>
            <a:r>
              <a:rPr sz="2250" b="1">
                <a:solidFill>
                  <a:srgbClr val="A8C7FF"/>
                </a:solidFill>
              </a:rPr>
              <a:t>天使轮融资计划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8B33FE28-BA81-4E88-B8B9-A6D71193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C3CBDA"/>
                </a:solidFill>
              </a:defRPr>
            </a:pPr>
            <a:r>
              <a:rPr sz="1350">
                <a:solidFill>
                  <a:srgbClr val="C3CBDA"/>
                </a:solidFill>
              </a:rPr>
              <a:t>以本土化内容为起点，以数据系统驱动批量生产、发行和运营。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1FA1CCB-D362-44EB-979B-ED356DD9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58"/>
          </a:solidFill>
          <a:ln xmlns:a="http://schemas.openxmlformats.org/drawingml/2006/main" w="0">
            <a:solidFill>
              <a:srgbClr val="3C4658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C4F9CCE-337B-401E-8FB3-D6D31FDC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7F6F1"/>
                </a:solidFill>
              </a:defRPr>
            </a:pPr>
            <a:r>
              <a:rPr sz="1125" b="1">
                <a:solidFill>
                  <a:srgbClr val="F7F6F1"/>
                </a:solidFill>
              </a:rPr>
              <a:t>融资定位：数据驱动的海外 AI 短剧生产与运营公司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25A90EE-3B80-42B7-ACA6-AC7DB886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内部资料｜有效播放与结算均按口径展示</a:t>
            </a:r>
          </a:p>
        </p:txBody>
      </p:sp>
    </p:spTree>
    <p:extLst>
      <p:ext uri="{BB962C8B-B14F-4D97-AF65-F5344CB8AC3E}">
        <p14:creationId xmlns:p14="http://schemas.microsoft.com/office/powerpoint/2010/main" val="36520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14ADE-2AE3-4314-B729-AFE3D54D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64BFF"/>
                </a:solidFill>
              </a:defRPr>
            </a:pPr>
            <a:r>
              <a:rPr sz="750" b="1">
                <a:solidFill>
                  <a:srgbClr val="164BFF"/>
                </a:solidFill>
              </a:rPr>
              <a:t>02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EB6FA-145D-4E7B-A986-6BAC794E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投资摘要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6A5B6-966C-4D25-ABC3-B3783BD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首轮资金用于稳定生产、完成第一批结算验证，并由真实 ROI 决定扩张。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05090-0AF6-4371-B548-2676904D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A61EE-7FA4-45E5-A875-ED8464B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4BFF"/>
                </a:solidFill>
              </a:defRPr>
            </a:pPr>
            <a:r>
              <a:rPr sz="3000" b="1">
                <a:solidFill>
                  <a:srgbClr val="164BFF"/>
                </a:solidFill>
              </a:rPr>
              <a:t>¥8–10万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971E9-DC0A-4D4F-BE3B-4B738177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87386"/>
                </a:solidFill>
              </a:defRPr>
            </a:pPr>
            <a:r>
              <a:rPr sz="1050">
                <a:solidFill>
                  <a:srgbClr val="687386"/>
                </a:solidFill>
              </a:rPr>
              <a:t>本轮目标；上限 ¥20 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2B3FC-3D2C-440D-9B87-A76A278A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38D996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38D996"/>
                </a:solidFill>
              </a:defRPr>
            </a:pPr>
            <a:r>
              <a:rPr sz="3000" b="1">
                <a:solidFill>
                  <a:srgbClr val="38D996"/>
                </a:solidFill>
              </a:rPr>
              <a:t>12 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6603F-B46E-48C9-9D3C-D749CE2D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87386"/>
                </a:solidFill>
              </a:defRPr>
            </a:pPr>
            <a:r>
              <a:rPr sz="1050">
                <a:solidFill>
                  <a:srgbClr val="687386"/>
                </a:solidFill>
              </a:rPr>
              <a:t>首阶段稳定月产能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A9D25-20AD-49A7-A514-ACBA9A2D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4BFF"/>
                </a:solidFill>
              </a:defRPr>
            </a:pPr>
            <a:r>
              <a:rPr sz="3000" b="1">
                <a:solidFill>
                  <a:srgbClr val="164BFF"/>
                </a:solidFill>
              </a:rPr>
              <a:t>1% / ¥1万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BE5EA-14F0-465A-B44A-D1BAF0EF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87386"/>
                </a:solidFill>
              </a:defRPr>
            </a:pPr>
            <a:r>
              <a:rPr sz="1050">
                <a:solidFill>
                  <a:srgbClr val="687386"/>
                </a:solidFill>
              </a:rPr>
              <a:t>小额入股；单人上限 ¥10 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71F25-68B8-44CE-8ECA-22C74AC3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DAF23-7FAD-40B0-96B1-B1C74E6D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38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752B6-343B-458E-B9E7-4813959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已经具备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1E652-ACA5-40CB-8908-2D9C218D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生产、发行、运营和数据复盘已经形成闭环；首批作品已积累可核验有效播放。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1792C-5058-4DE8-A171-390CF0C5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24300"/>
            <a:ext cx="3238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1E97D-5E52-41A8-960F-7EBBEC5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本轮要完成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C9D6F-9AC2-48FF-A2C4-3A975A88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76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把 7 人成熟团队转化为稳定的月产 12 部节奏，并等待首批账单验证单位经济模型。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80130-9DE1-4993-8192-3AF8E92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39243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51E30"/>
          </a:solidFill>
          <a:ln xmlns:a="http://schemas.openxmlformats.org/drawingml/2006/main" w="0">
            <a:solidFill>
              <a:srgbClr val="151E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7EE05-4FC2-4972-AE80-D7BE4011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两条回报路径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50CAA-16A9-4E9D-A1F4-628A519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76750"/>
            <a:ext cx="354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C3CBDA"/>
                </a:solidFill>
              </a:defRPr>
            </a:pPr>
            <a:r>
              <a:rPr sz="975">
                <a:solidFill>
                  <a:srgbClr val="C3CBDA"/>
                </a:solidFill>
              </a:rPr>
              <a:t>股权随公司经营、系统产品化和渠道自建增值；也可参与独立的单剧合作，不自动取得公司股权。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6C724-737C-4C8F-8380-E543D20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8A5CC-5C85-4053-9CAC-133CDE39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新梦工作室｜海外 AI 短剧业务｜天使轮融资 BP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F5E4B-41D3-48A0-A45C-30A8281C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7985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EFAD4-8BBF-433F-8254-E3B26CCF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A8C7FF"/>
                </a:solidFill>
              </a:defRPr>
            </a:pPr>
            <a:r>
              <a:rPr sz="750" b="1">
                <a:solidFill>
                  <a:srgbClr val="A8C7FF"/>
                </a:solidFill>
              </a:rPr>
              <a:t>03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EF2A1-FE65-470C-B65B-D36C5043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7F6F1"/>
                </a:solidFill>
              </a:defRPr>
            </a:pPr>
            <a:r>
              <a:rPr sz="2550" b="1">
                <a:solidFill>
                  <a:srgbClr val="F7F6F1"/>
                </a:solidFill>
              </a:rPr>
              <a:t>内容决定上限，系统决定复利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24736-2E9D-4502-966D-713A37EB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C3CBDA"/>
                </a:solidFill>
              </a:defRPr>
            </a:pPr>
            <a:r>
              <a:rPr sz="1125">
                <a:solidFill>
                  <a:srgbClr val="C3CBDA"/>
                </a:solidFill>
              </a:rPr>
              <a:t>AI 解决了部分制作效率，内容、本土化和人才组织决定是否能够持续交付。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7133B-AC4D-4C9E-8C75-00B1982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53"/>
          </a:solidFill>
          <a:ln xmlns:a="http://schemas.openxmlformats.org/drawingml/2006/main" w="0">
            <a:solidFill>
              <a:srgbClr val="3540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EA3CB-F363-4474-A748-0A28D4D0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0099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DA298-0985-43B7-B157-AFC535B1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7F6F1"/>
                </a:solidFill>
              </a:defRPr>
            </a:pPr>
            <a:r>
              <a:rPr sz="1800" b="1">
                <a:solidFill>
                  <a:srgbClr val="F7F6F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3311D-6502-40B8-8CB9-B8453E5D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7F6F1"/>
                </a:solidFill>
              </a:defRPr>
            </a:pPr>
            <a:r>
              <a:rPr sz="1650" b="1">
                <a:solidFill>
                  <a:srgbClr val="F7F6F1"/>
                </a:solidFill>
              </a:rPr>
              <a:t>内容为王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5F216-854B-4BF5-A049-D866A54F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C3CBDA"/>
                </a:solidFill>
              </a:defRPr>
            </a:pPr>
            <a:r>
              <a:rPr sz="975">
                <a:solidFill>
                  <a:srgbClr val="C3CBDA"/>
                </a:solidFill>
              </a:rPr>
              <a:t>题材、人物关系和节奏决定用户能否持续观看；剧本库和选题机制是第一生产资料。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9C1DE-E092-4D6C-BFF4-097F077A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30099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51E30"/>
          </a:solidFill>
          <a:ln xmlns:a="http://schemas.openxmlformats.org/drawingml/2006/main" w="0">
            <a:solidFill>
              <a:srgbClr val="151E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B2A33-9E29-4D7A-80FC-B7B9BF66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D99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8D996"/>
                </a:solidFill>
              </a:defRPr>
            </a:pPr>
            <a:r>
              <a:rPr sz="1800" b="1">
                <a:solidFill>
                  <a:srgbClr val="38D99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F3C85-1A54-4B99-BE3C-5002D8D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7F6F1"/>
                </a:solidFill>
              </a:defRPr>
            </a:pPr>
            <a:r>
              <a:rPr sz="1650" b="1">
                <a:solidFill>
                  <a:srgbClr val="F7F6F1"/>
                </a:solidFill>
              </a:rPr>
              <a:t>本土化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38F2-D83E-41B7-A311-2774FA3B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C3CBDA"/>
                </a:solidFill>
              </a:defRPr>
            </a:pPr>
            <a:r>
              <a:rPr sz="975">
                <a:solidFill>
                  <a:srgbClr val="C3CBDA"/>
                </a:solidFill>
              </a:rPr>
              <a:t>面向英语为主的十国市场，需将题材、表达、封面和发行节奏适配当地用户。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D1463-E4D8-442D-B3B8-6E4C50E7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30099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51E30"/>
          </a:solidFill>
          <a:ln xmlns:a="http://schemas.openxmlformats.org/drawingml/2006/main" w="0">
            <a:solidFill>
              <a:srgbClr val="151E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3C1EA-7889-4BD2-9CAC-A679D639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38D996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8D996"/>
                </a:solidFill>
              </a:defRPr>
            </a:pPr>
            <a:r>
              <a:rPr sz="1800" b="1">
                <a:solidFill>
                  <a:srgbClr val="38D996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6FD36-9B23-43D8-9ECD-55A18923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7F6F1"/>
                </a:solidFill>
              </a:defRPr>
            </a:pPr>
            <a:r>
              <a:rPr sz="1650" b="1">
                <a:solidFill>
                  <a:srgbClr val="F7F6F1"/>
                </a:solidFill>
              </a:rPr>
              <a:t>人才培养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426AF-0B6E-46C8-A53A-BD35130A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C3CBDA"/>
                </a:solidFill>
              </a:defRPr>
            </a:pPr>
            <a:r>
              <a:rPr sz="975">
                <a:solidFill>
                  <a:srgbClr val="C3CBDA"/>
                </a:solidFill>
              </a:rPr>
              <a:t>工具可加速生产，稳定交付仍依赖可协作、可复盘的导演、制作与剪辑团队。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131F1-D1C4-4F71-8618-50145FC4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A8C7FF"/>
                </a:solidFill>
              </a:defRPr>
            </a:pPr>
            <a:r>
              <a:rPr sz="1350" b="1">
                <a:solidFill>
                  <a:srgbClr val="A8C7FF"/>
                </a:solidFill>
              </a:rPr>
              <a:t>新梦的回答：海外本土剧本库 + AI 生产系统 + 心术数据复盘，把内容能力从个人经验变成团队标准。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57CC6-955B-4E5E-84E7-D12A58C3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53"/>
          </a:solidFill>
          <a:ln xmlns:a="http://schemas.openxmlformats.org/drawingml/2006/main" w="0">
            <a:solidFill>
              <a:srgbClr val="3540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03C89-DD6E-4ED2-8E72-8DFAC652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新梦工作室｜海外 AI 短剧业务｜天使轮融资 BP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CAEC7-CCBC-4B5B-8E71-20D9200F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5175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5347DA-C3F3-4E0F-9B96-FFB04F20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64BFF"/>
                </a:solidFill>
              </a:defRPr>
            </a:pPr>
            <a:r>
              <a:rPr sz="750" b="1">
                <a:solidFill>
                  <a:srgbClr val="164BFF"/>
                </a:solidFill>
              </a:rPr>
              <a:t>04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709C0-7F3A-4B98-8BD9-E30114D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把内容判断变成生产与运营闭环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C61C5-20C8-47DC-ACA6-87D7CCF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从剧本到发布，再到数据反馈，每部剧都进入同一套可复盘、可迭代的作业系统。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CC02D-F6A1-4C1D-B878-FAEB417C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5088B-710C-40B0-8C0D-0CF29372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790700" cy="19812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29464-A294-4F20-9EAF-EC7FF1B1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64BFF"/>
                </a:solidFill>
              </a:defRPr>
            </a:pPr>
            <a:r>
              <a:rPr sz="825" b="1">
                <a:solidFill>
                  <a:srgbClr val="164B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A6471-9E9D-43A9-872A-8C273F6D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题材与剧本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7D962-C62F-4135-9096-4DFB9837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海外本土剧本库</a:t>
            </a:r>
          </a:p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多来源内容供给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ECC47-5315-4655-AB6F-5B32147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30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2BCFD-5E26-4D19-A42F-8EC95122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790700" cy="19812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7EBC4-D664-459B-89EF-DF88B81C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64BFF"/>
                </a:solidFill>
              </a:defRPr>
            </a:pPr>
            <a:r>
              <a:rPr sz="825" b="1">
                <a:solidFill>
                  <a:srgbClr val="164B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9BDBD-1EBF-4840-BCDD-338AA2BE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AI 制作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AAA4B-74A5-42EA-A8F9-974464B7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67125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2 人小组协作</a:t>
            </a:r>
          </a:p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约 4 天完成 1 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E639D-CAE3-4A8E-A554-58E09111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30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4C187-06D3-4F5B-9D28-E9A52EA0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790700" cy="19812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4E8A6-1ADF-4365-B898-6FCA8A0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64BFF"/>
                </a:solidFill>
              </a:defRPr>
            </a:pPr>
            <a:r>
              <a:rPr sz="825" b="1">
                <a:solidFill>
                  <a:srgbClr val="164B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0EC4A-D6C0-4F02-BDDB-E0AED3E4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81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上线评级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E8864-7DE8-4030-82BF-7D4AF26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67125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仅 B/C 项目进入</a:t>
            </a:r>
          </a:p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当前生产计划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E35FD-02FF-4FB0-AA9F-4BFAFEE0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81400"/>
            <a:ext cx="30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5E15E-8B58-4839-849B-F7CA1505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1790700" cy="19812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67507-491F-4DEE-AA85-9DFF4C4F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813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64BFF"/>
                </a:solidFill>
              </a:defRPr>
            </a:pPr>
            <a:r>
              <a:rPr sz="825" b="1">
                <a:solidFill>
                  <a:srgbClr val="164B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DE498-3956-4CCF-85CB-BF00D6A8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发行运营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B05EA-E9FA-4676-8F2F-EC8EC9BF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67125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首 3 个月依托</a:t>
            </a:r>
          </a:p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心视觉发行资源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AEEE8-4099-4784-84E6-314464CB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81400"/>
            <a:ext cx="30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5E6C9-1E06-489C-8ADF-128BC157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1790700" cy="19812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531C9-9CB2-4379-B78B-8FD6D238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38D996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38D996"/>
                </a:solidFill>
              </a:defRPr>
            </a:pPr>
            <a:r>
              <a:rPr sz="825" b="1">
                <a:solidFill>
                  <a:srgbClr val="38D996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00AE6F-F530-459B-95E2-948EDC81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813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心术复盘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C1D66-5C41-49CD-882E-6DD88AF1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67125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C3CBDA"/>
                </a:solidFill>
              </a:defRPr>
            </a:pPr>
            <a:r>
              <a:rPr sz="975">
                <a:solidFill>
                  <a:srgbClr val="C3CBDA"/>
                </a:solidFill>
              </a:rPr>
              <a:t>快照、成本、榜单、</a:t>
            </a:r>
          </a:p>
          <a:p xmlns:a="http://schemas.openxmlformats.org/drawingml/2006/main">
            <a:pPr>
              <a:defRPr sz="975">
                <a:solidFill>
                  <a:srgbClr val="C3CBDA"/>
                </a:solidFill>
              </a:defRPr>
            </a:pPr>
            <a:r>
              <a:rPr sz="975">
                <a:solidFill>
                  <a:srgbClr val="C3CBDA"/>
                </a:solidFill>
              </a:rPr>
              <a:t>人员参与画像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7A380F-3DE1-4B98-9E16-F2A33A1F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87386"/>
                </a:solidFill>
              </a:defRPr>
            </a:pPr>
            <a:r>
              <a:rPr sz="1050">
                <a:solidFill>
                  <a:srgbClr val="687386"/>
                </a:solidFill>
              </a:rPr>
              <a:t>运营原则：完整快照才入库；仅相邻后台业务日期的差额称为单剧日增，日期缺口只记录为区间增量。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DEE4A-99CB-49FD-BDF6-3096A5D0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590E35-BF45-4553-9C33-4E84F1A1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新梦工作室｜海外 AI 短剧业务｜天使轮融资 BP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1A83D5-BFA6-442A-8FA6-D9A0E0F6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5992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DA6C3-2760-4D0C-BFFF-6882B3C5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64BFF"/>
                </a:solidFill>
              </a:defRPr>
            </a:pPr>
            <a:r>
              <a:rPr sz="750" b="1">
                <a:solidFill>
                  <a:srgbClr val="164BFF"/>
                </a:solidFill>
              </a:rPr>
              <a:t>05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69A7B-EBF0-43B3-B407-B044BF38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首批可核验数据：已进入“能被数据检验”的阶段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FFAFE-CB50-426C-BB07-039E5BA7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截至 2026-10-19 的完整快照；只选取成本表可匹配、评级为 B/C 的 17 部项目。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C1340-F537-43D5-85D3-DA52E88D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64792-4119-4F69-8F1F-13A48E47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4BFF"/>
                </a:solidFill>
              </a:defRPr>
            </a:pPr>
            <a:r>
              <a:rPr sz="3000" b="1">
                <a:solidFill>
                  <a:srgbClr val="164BFF"/>
                </a:solidFill>
              </a:rPr>
              <a:t>17 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6FC60-9109-4E4B-915C-E2A8544B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87386"/>
                </a:solidFill>
              </a:defRPr>
            </a:pPr>
            <a:r>
              <a:rPr sz="1050">
                <a:solidFill>
                  <a:srgbClr val="687386"/>
                </a:solidFill>
              </a:rPr>
              <a:t>成本表可匹配的 B/C 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3041E-27A8-4539-90FA-C0E6487C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4BFF"/>
                </a:solidFill>
              </a:defRPr>
            </a:pPr>
            <a:r>
              <a:rPr sz="3000" b="1">
                <a:solidFill>
                  <a:srgbClr val="164BFF"/>
                </a:solidFill>
              </a:rPr>
              <a:t>1,398.30万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3384A-6B98-4818-BE8E-68AFAF09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14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87386"/>
                </a:solidFill>
              </a:defRPr>
            </a:pPr>
            <a:r>
              <a:rPr sz="1050">
                <a:solidFill>
                  <a:srgbClr val="687386"/>
                </a:solidFill>
              </a:rPr>
              <a:t>上述项目累计有效播放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1C753-8E6C-4FB5-A1B9-CE50E71A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38D996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38D996"/>
                </a:solidFill>
              </a:defRPr>
            </a:pPr>
            <a:r>
              <a:rPr sz="3000" b="1">
                <a:solidFill>
                  <a:srgbClr val="38D996"/>
                </a:solidFill>
              </a:rPr>
              <a:t>65.92万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02D14-735A-49DC-B021-1A11603C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87386"/>
                </a:solidFill>
              </a:defRPr>
            </a:pPr>
            <a:r>
              <a:rPr sz="1050">
                <a:solidFill>
                  <a:srgbClr val="687386"/>
                </a:solidFill>
              </a:rPr>
              <a:t>去除最高与最低后的单部平均有效播放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055C-55FA-4099-95AA-C96AB61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ADF5C-F03A-4D86-B6EB-4EBC04D8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为什么用去极值均值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99290-CA37-4068-9590-E4243561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17 部样本中，最高 409.20 万、最低 0.22 万。为避免个别爆款和极低样本把模型拉偏，单位经济模型取中间 15 部的平均值 65.92 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DF620-9830-4A86-8FBC-F4E5D4B6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29050"/>
            <a:ext cx="4038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32311-5700-4FAA-916D-F43B98DC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67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8C7FF"/>
                </a:solidFill>
              </a:defRPr>
            </a:pPr>
            <a:r>
              <a:rPr sz="975" b="1">
                <a:solidFill>
                  <a:srgbClr val="A8C7FF"/>
                </a:solidFill>
              </a:rPr>
              <a:t>完整账号快照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2A1D8-B98F-49B0-8A48-217AAF6D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7F6F1"/>
                </a:solidFill>
              </a:defRPr>
            </a:pPr>
            <a:r>
              <a:rPr sz="1650" b="1">
                <a:solidFill>
                  <a:srgbClr val="F7F6F1"/>
                </a:solidFill>
              </a:rPr>
              <a:t>36 部剧合计 2,960.52 万有效播放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6C2BE-DE7F-4581-9DDD-6301C257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57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C3CBDA"/>
                </a:solidFill>
              </a:defRPr>
            </a:pPr>
            <a:r>
              <a:rPr sz="900">
                <a:solidFill>
                  <a:srgbClr val="C3CBDA"/>
                </a:solidFill>
              </a:rPr>
              <a:t>其中含其他部门作品，不作为新梦可归属业绩。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69A32-C8C0-4EE7-87C0-4C4EB1E0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96E21-3213-466E-A51F-5762FDC5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新梦工作室｜海外 AI 短剧业务｜天使轮融资 BP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3BBB7-ED60-40BF-9934-A5033BA7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4432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4F6EA-FB14-466D-965A-6FA38852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64BFF"/>
                </a:solidFill>
              </a:defRPr>
            </a:pPr>
            <a:r>
              <a:rPr sz="750" b="1">
                <a:solidFill>
                  <a:srgbClr val="164BFF"/>
                </a:solidFill>
              </a:rPr>
              <a:t>06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83014-21E1-4E0A-B372-B10BFB3C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样本中已有多部作品持续积累播放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75BB1-4E97-4D65-B83F-F05C53C5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以下为成本表可匹配 B/C 项目的当前累计有效播放，非已结算收入。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6A5D7-8770-405C-AA1D-2924434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5DD9D-B896-4313-B4E3-84DD9DD4AE27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820400" cy="2990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19700"/>
                <a:gridCol w="1238250"/>
                <a:gridCol w="2305050"/>
                <a:gridCol w="2057400"/>
              </a:tblGrid>
              <a:tr h="427264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作品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评级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累计有效播放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平均观看时长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</a:tr>
              <a:tr h="42726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My Roommate Treats Me Like a Wife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B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64BFF"/>
                          </a:solidFill>
                        </a:rPr>
                        <a:t>409.20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4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5分08秒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2726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How Did the Villainess Score Such a Huge Win?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B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64BFF"/>
                          </a:solidFill>
                        </a:rPr>
                        <a:t>200.26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4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4分29秒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2726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The Cold Alpha's Stupid Omega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B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64BFF"/>
                          </a:solidFill>
                        </a:rPr>
                        <a:t>185.69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4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2分10秒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2726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The Fox Who Loved Me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B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126.27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6分13秒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2726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Damn it! It's my dream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B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117.83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3分51秒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2726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Don’t Mess With the Vegetable-Loving Vampire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B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110.31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2分25秒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58A41-D812-4C58-9F9A-EA25CE62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0">
            <a:solidFill>
              <a:srgbClr val="EEF1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76E93-4C3B-4253-B6CB-D7D28AF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054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B1020"/>
                </a:solidFill>
              </a:defRPr>
            </a:pPr>
            <a:r>
              <a:rPr sz="975" b="1">
                <a:solidFill>
                  <a:srgbClr val="0B1020"/>
                </a:solidFill>
              </a:rPr>
              <a:t>完整样本存在高低差异；BP 使用去极值后的 65.92 万作为首阶段测算基准，并以第一批实际账单决定是否扩张。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47339-A22D-4F1C-A63C-3DCE812A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660DD-174A-4D04-A773-47F25FDF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新梦工作室｜海外 AI 短剧业务｜天使轮融资 BP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849B1-F91C-4A89-A29D-C8E69542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3420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388A8-98C6-4124-994F-EEFAFC7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A8C7FF"/>
                </a:solidFill>
              </a:defRPr>
            </a:pPr>
            <a:r>
              <a:rPr sz="750" b="1">
                <a:solidFill>
                  <a:srgbClr val="A8C7FF"/>
                </a:solidFill>
              </a:rPr>
              <a:t>07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77C0C-EE27-4557-90B5-C8547E3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7F6F1"/>
                </a:solidFill>
              </a:defRPr>
            </a:pPr>
            <a:r>
              <a:rPr sz="2550" b="1">
                <a:solidFill>
                  <a:srgbClr val="F7F6F1"/>
                </a:solidFill>
              </a:rPr>
              <a:t>护城河是内容资产与运营系统的共同积累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722F8-751D-4DD3-AA0A-D90D51D1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C3CBDA"/>
                </a:solidFill>
              </a:defRPr>
            </a:pPr>
            <a:r>
              <a:rPr sz="1125">
                <a:solidFill>
                  <a:srgbClr val="C3CBDA"/>
                </a:solidFill>
              </a:rPr>
              <a:t>系统当前是内部生产力工具，不把它包装成已产生收入的 SaaS 业务。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5B883-81A9-4734-BFE5-578C65EB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53"/>
          </a:solidFill>
          <a:ln xmlns:a="http://schemas.openxmlformats.org/drawingml/2006/main" w="0">
            <a:solidFill>
              <a:srgbClr val="3540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6E267-F85A-457C-8B43-6114A23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2766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151E30"/>
          </a:solidFill>
          <a:ln xmlns:a="http://schemas.openxmlformats.org/drawingml/2006/main" w="0">
            <a:solidFill>
              <a:srgbClr val="151E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3E4FD-57A9-4519-ACE3-3C3B618E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D41AB-2B69-4E51-B575-0C134C29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7F6F1"/>
                </a:solidFill>
              </a:defRPr>
            </a:pPr>
            <a:r>
              <a:rPr sz="1575" b="1">
                <a:solidFill>
                  <a:srgbClr val="F7F6F1"/>
                </a:solidFill>
              </a:rPr>
              <a:t>海外本土剧本库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71851-8E9D-46C2-B3AF-01DB2638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00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C3CBDA"/>
                </a:solidFill>
              </a:defRPr>
            </a:pPr>
            <a:r>
              <a:rPr sz="1050">
                <a:solidFill>
                  <a:srgbClr val="C3CBDA"/>
                </a:solidFill>
              </a:rPr>
              <a:t>题材可随市场变化切换：BL、GL、狼人、吸血鬼、复仇、女性成长等；内容来自原创、合作与其他合规来源。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C882B-7922-4BF2-A95F-F63EB7D1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2766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151E30"/>
          </a:solidFill>
          <a:ln xmlns:a="http://schemas.openxmlformats.org/drawingml/2006/main" w="0">
            <a:solidFill>
              <a:srgbClr val="151E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5100A-45AB-45AF-A827-3E0879A9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38D9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76E1C-0AF8-477A-BBD8-52936515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7F6F1"/>
                </a:solidFill>
              </a:defRPr>
            </a:pPr>
            <a:r>
              <a:rPr sz="1575" b="1">
                <a:solidFill>
                  <a:srgbClr val="F7F6F1"/>
                </a:solidFill>
              </a:rPr>
              <a:t>新梦 Studio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13280-F440-4A86-8C75-631A15C5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2800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C3CBDA"/>
                </a:solidFill>
              </a:defRPr>
            </a:pPr>
            <a:r>
              <a:rPr sz="1050">
                <a:solidFill>
                  <a:srgbClr val="C3CBDA"/>
                </a:solidFill>
              </a:rPr>
              <a:t>AI 制作流程与团队协作工具，目标是让 2 人小组稳定交付，而不是依赖临时手工经验。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97FEA-88B5-4737-B283-83507C0B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2766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151E30"/>
          </a:solidFill>
          <a:ln xmlns:a="http://schemas.openxmlformats.org/drawingml/2006/main" w="0">
            <a:solidFill>
              <a:srgbClr val="151E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9242E-AAA9-4BE1-AFAD-09879A90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276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7FF"/>
          </a:solidFill>
          <a:ln xmlns:a="http://schemas.openxmlformats.org/drawingml/2006/main" w="0">
            <a:solidFill>
              <a:srgbClr val="A8C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4B78F-158C-4A52-9CAE-6E5B58E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7F6F1"/>
                </a:solidFill>
              </a:defRPr>
            </a:pPr>
            <a:r>
              <a:rPr sz="1575" b="1">
                <a:solidFill>
                  <a:srgbClr val="F7F6F1"/>
                </a:solidFill>
              </a:rPr>
              <a:t>心术 3.0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503A5-BC39-4AC5-92BE-6EE0552D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800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C3CBDA"/>
                </a:solidFill>
              </a:defRPr>
            </a:pPr>
            <a:r>
              <a:rPr sz="1050">
                <a:solidFill>
                  <a:srgbClr val="C3CBDA"/>
                </a:solidFill>
              </a:rPr>
              <a:t>独立部署的运营分析与管理平台：趋势、单剧快照、可验证日增、成本台账、人员参与画像与榜单。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C1DE6-20EF-4C74-8161-1D4C771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A8C7FF"/>
                </a:solidFill>
              </a:defRPr>
            </a:pPr>
            <a:r>
              <a:rPr sz="1125">
                <a:solidFill>
                  <a:srgbClr val="A8C7FF"/>
                </a:solidFill>
              </a:rPr>
              <a:t>长期产品化方向：等生产与现金流被首批账单验证后，以剧本库 + 系统的合作服务和培训拓展外部市场；该部分不计入本轮近期期待结算。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FF687-8851-4B08-8721-D3F77DB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53"/>
          </a:solidFill>
          <a:ln xmlns:a="http://schemas.openxmlformats.org/drawingml/2006/main" w="0">
            <a:solidFill>
              <a:srgbClr val="3540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89A36-78A3-471E-8DB5-A7A7362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新梦工作室｜海外 AI 短剧业务｜天使轮融资 BP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7C35F-9CAA-4E35-96A6-374DA3AE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4622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5C216-661A-496C-A1F5-F7B17252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64BFF"/>
                </a:solidFill>
              </a:defRPr>
            </a:pPr>
            <a:r>
              <a:rPr sz="750" b="1">
                <a:solidFill>
                  <a:srgbClr val="164BFF"/>
                </a:solidFill>
              </a:rPr>
              <a:t>08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1E5B2-BCD8-4983-9BC6-559F2ED4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成熟团队直接进入生产，技术、内容与组织能力已在同一体系内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C4D5A-9AC4-465E-940C-7789A5F0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个人数据仅代表参与项目组合，项目多人参与时不归因为个人独立创造的播放。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E9464-3F48-4A52-B574-85CB74DB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17AE0-8495-46E9-A54F-47432235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8481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51E30"/>
          </a:solidFill>
          <a:ln xmlns:a="http://schemas.openxmlformats.org/drawingml/2006/main" w="0">
            <a:solidFill>
              <a:srgbClr val="151E3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43943-3B7F-4748-A451-226E7265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创始人｜业务与组织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D909A-0294-46AF-BAFE-1AB19C0A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4671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C3CBDA"/>
                </a:solidFill>
              </a:defRPr>
            </a:pPr>
            <a:r>
              <a:rPr sz="975">
                <a:solidFill>
                  <a:srgbClr val="C3CBDA"/>
                </a:solidFill>
              </a:rPr>
              <a:t>AIGC 认证讲师、AI 全栈工程师；5 年运营与项目管理、3 年 AI 行业经验。曾带领三支团队完成心智 Claw、心智 Studio、心术与剧本库等 0–1 建设；具备技术、内容、运营与培训的跨界组织能力。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C819C-9466-4B71-9AF4-F5CE6229E3EF}"/>
              </a:ext>
            </a:extLst>
          </p:cNvPr>
          <p:cNvGraphicFramePr/>
          <p:nvPr/>
        </p:nvGraphicFramePr>
        <p:xfrm>
          <a:off xmlns:a="http://schemas.openxmlformats.org/drawingml/2006/main" x="4953000" y="2247900"/>
          <a:ext xmlns:a="http://schemas.openxmlformats.org/drawingml/2006/main" cx="6553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2533650"/>
              </a:tblGrid>
              <a:tr h="408214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成员 / 角色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参与 B/C 项目组合累计播放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马杨杨｜制作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548.48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李明｜制作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378.86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罗宜睿｜制作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59.95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卿舒瑞｜制作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660.18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吴柳｜制作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548.26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王峻博｜系统独立开发；葛锦铭｜总导演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64BFF"/>
                          </a:solidFill>
                        </a:rPr>
                        <a:t>系统与内容核心能力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4EC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0A2B2-1DEA-4225-BD52-1F35EA28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87386"/>
                </a:solidFill>
              </a:defRPr>
            </a:pPr>
            <a:r>
              <a:rPr sz="1050">
                <a:solidFill>
                  <a:srgbClr val="687386"/>
                </a:solidFill>
              </a:rPr>
              <a:t>此外已筛选 7 名数据表现较好的 AI 导演、制作与剪辑人员，团队已有协作基础，可直接按两人小组进入生产。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62A81-610D-44A6-AD39-0B5DA8FB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DAE1C-A5B4-488B-8E6D-437531FD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新梦工作室｜海外 AI 短剧业务｜天使轮融资 BP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87CC1-E748-4228-8417-DC7ED1EA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65832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46363-FA73-487E-967F-7E7EB965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64BFF"/>
                </a:solidFill>
              </a:defRPr>
            </a:pPr>
            <a:r>
              <a:rPr sz="750" b="1">
                <a:solidFill>
                  <a:srgbClr val="164BFF"/>
                </a:solidFill>
              </a:rPr>
              <a:t>09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F190F-0145-4B56-956D-70D1EE4C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现金转换受三个月结算周期约束，扩张必须先过首批账单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0946C-7BB7-430A-8B85-7CB63672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表现约在上线后两周初步观察；第 1 月上线的项目在第 4 月开始结算。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0286D-D3B7-4F22-8399-98CB28DD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4DC4D-70B4-4626-A3F1-1DB3CEAD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752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B3556-CDEB-47AA-AF50-D54A0CED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7F6F1"/>
                </a:solidFill>
              </a:defRPr>
            </a:pPr>
            <a:r>
              <a:rPr sz="900" b="1">
                <a:solidFill>
                  <a:srgbClr val="F7F6F1"/>
                </a:solidFill>
              </a:rPr>
              <a:t>M1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8DB47-3262-4337-AEC8-7AC0776F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启动生产</a:t>
            </a:r>
          </a:p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12 部/月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CCA07-2C38-4A88-8E8A-401CEF93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042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98EA2-7077-4EC6-8434-D299C83F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28900"/>
            <a:ext cx="1752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ADD56-E5EF-459F-A4A9-590DCA52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7F6F1"/>
                </a:solidFill>
              </a:defRPr>
            </a:pPr>
            <a:r>
              <a:rPr sz="900" b="1">
                <a:solidFill>
                  <a:srgbClr val="F7F6F1"/>
                </a:solidFill>
              </a:rPr>
              <a:t>M2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4DD0-E748-4DDD-B551-97BBD6AB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05175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继续生产</a:t>
            </a:r>
          </a:p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观察表现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0B083-6472-4F82-83C5-3D437F3D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042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3568D-244E-4208-BB20-2B2A143E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28900"/>
            <a:ext cx="1752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4BFF"/>
          </a:solidFill>
          <a:ln xmlns:a="http://schemas.openxmlformats.org/drawingml/2006/main" w="0">
            <a:solidFill>
              <a:srgbClr val="164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67EFE-CFAA-4708-A1C2-2F002C82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7F6F1"/>
                </a:solidFill>
              </a:defRPr>
            </a:pPr>
            <a:r>
              <a:rPr sz="900" b="1">
                <a:solidFill>
                  <a:srgbClr val="F7F6F1"/>
                </a:solidFill>
              </a:rPr>
              <a:t>M3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57BF0-4C2C-4E06-B992-073EDFCD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05175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保持节奏</a:t>
            </a:r>
          </a:p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等待结算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96B1F-520A-4003-9C6C-2BA5931B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042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5CA3A-F1DF-4FC4-9FB5-5F84970E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28900"/>
            <a:ext cx="1752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38D99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E73F6-B139-4F20-A1A0-64D45D7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7F6F1"/>
                </a:solidFill>
              </a:defRPr>
            </a:pPr>
            <a:r>
              <a:rPr sz="900" b="1">
                <a:solidFill>
                  <a:srgbClr val="F7F6F1"/>
                </a:solidFill>
              </a:rPr>
              <a:t>M4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D4148-A1C4-4F77-8D4C-07FB8151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05175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收到 M1</a:t>
            </a:r>
          </a:p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首笔结算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849A0-F113-418C-A126-4B5A20E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042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0F8FE-1BCE-49BA-A859-CAE6B745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28900"/>
            <a:ext cx="1752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38D9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A7581-8B6F-4F02-AE7D-6C8F6218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7F6F1"/>
                </a:solidFill>
              </a:defRPr>
            </a:pPr>
            <a:r>
              <a:rPr sz="900" b="1">
                <a:solidFill>
                  <a:srgbClr val="F7F6F1"/>
                </a:solidFill>
              </a:rPr>
              <a:t>M5+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4CC4A-3B39-484C-B78C-783321EC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05175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以真实 ROI</a:t>
            </a:r>
          </a:p>
          <a:p xmlns:a="http://schemas.openxmlformats.org/drawingml/2006/main">
            <a:pPr>
              <a:defRPr sz="1350" b="1">
                <a:solidFill>
                  <a:srgbClr val="F7F6F1"/>
                </a:solidFill>
              </a:defRPr>
            </a:pPr>
            <a:r>
              <a:rPr sz="1350" b="1">
                <a:solidFill>
                  <a:srgbClr val="F7F6F1"/>
                </a:solidFill>
              </a:rPr>
              <a:t>决定扩张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9FC6B-5F11-4793-B19F-601241EA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572C8-2DB0-4D0E-8E85-3F20F7E8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扩张阈值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32343-211E-46B2-B43D-C0513723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B1020"/>
                </a:solidFill>
              </a:defRPr>
            </a:pPr>
            <a:r>
              <a:rPr sz="1200" b="1">
                <a:solidFill>
                  <a:srgbClr val="0B1020"/>
                </a:solidFill>
              </a:rPr>
              <a:t>ROI ≥ 50% 且未来 3 个月现金流无压力：扩张；ROI 0–50%：维持 12 部/月；ROI &lt; 0：暂停扩张并调整内容、成本或发行策略。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77396-4815-4564-9AD2-EEAC0880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B8FFB-CDA9-4955-AEB1-B584B1DC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新梦工作室｜海外 AI 短剧业务｜天使轮融资 BP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20872F-D558-4D66-8EBF-8C6D034B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1466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645BA-2EE1-47DF-B3DF-22683644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64BFF"/>
                </a:solidFill>
              </a:defRPr>
            </a:pPr>
            <a:r>
              <a:rPr sz="750" b="1">
                <a:solidFill>
                  <a:srgbClr val="164BFF"/>
                </a:solidFill>
              </a:rPr>
              <a:t>010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BF76A-1ADB-4911-8DC8-D86CE2BB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12 部/月的预估结算情景：只有实际账单能验证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165F6-E180-476B-BF1A-291FC791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基于去极值样本均值 65.92 万有效播放/部；B/C 的测算单价为 ¥100–140/万有效播放。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50D7D-2387-48AD-8178-C0DE48B8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3E5D1-674C-4F94-9A11-40F3B09B4769}"/>
              </a:ext>
            </a:extLst>
          </p:cNvPr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108204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91150"/>
                <a:gridCol w="2714625"/>
                <a:gridCol w="2714625"/>
              </a:tblGrid>
              <a:tr h="402431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测算项目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保守情景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上行情景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</a:tr>
              <a:tr h="40243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单部累计有效播放假设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65.92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65.92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0243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计价假设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¥100 /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¥140 /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0243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单部预估结算额（未扣分成）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¥6,592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¥9,229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0243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公司预估可留比例（发行15%+团队34%后）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51%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51%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0243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12 部对应公司预估可留金额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27449"/>
                          </a:solidFill>
                        </a:rPr>
                        <a:t>¥40,346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9F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27449"/>
                          </a:solidFill>
                        </a:rPr>
                        <a:t>¥56,484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9FFF5"/>
                    </a:solidFill>
                  </a:tcPr>
                </a:tc>
              </a:tr>
              <a:tr h="40243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每月运营支出假设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¥26,400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¥26,400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0243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结算到账后月度经营余量测算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64BFF"/>
                          </a:solidFill>
                        </a:rPr>
                        <a:t>¥13,946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4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64BFF"/>
                          </a:solidFill>
                        </a:rPr>
                        <a:t>¥30,084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4EC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8A470-B5F5-4E8A-BA5D-36B8AFF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687386"/>
                </a:solidFill>
              </a:defRPr>
            </a:pPr>
            <a:r>
              <a:rPr sz="900">
                <a:solidFill>
                  <a:srgbClr val="687386"/>
                </a:solidFill>
              </a:rPr>
              <a:t>适用前提：首阶段仅排入已定为 B/C 的项目；上述为播放规则下的预估结算情景，未扣税费或其他可能扣减，不能替代实际账单。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3AA23-FB4C-4169-9F09-4C8FCB66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3DF8A-32B9-4950-B671-3167F58F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新梦工作室｜海外 AI 短剧业务｜天使轮融资 BP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B9C74-32C5-4CAF-848B-D1560D2C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7593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EA1F0-8E6E-4E16-A551-9079D442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A8C7FF"/>
                </a:solidFill>
              </a:defRPr>
            </a:pPr>
            <a:r>
              <a:rPr sz="750" b="1">
                <a:solidFill>
                  <a:srgbClr val="A8C7FF"/>
                </a:solidFill>
              </a:rPr>
              <a:t>011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9A19A-C09E-457D-93C3-D7ECB198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7F6F1"/>
                </a:solidFill>
              </a:defRPr>
            </a:pPr>
            <a:r>
              <a:rPr sz="2550" b="1">
                <a:solidFill>
                  <a:srgbClr val="F7F6F1"/>
                </a:solidFill>
              </a:rPr>
              <a:t>资金先保障三个月现金安全，再等首批结算验证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16493-E28A-4BE0-9C43-82A8DEDB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C3CBDA"/>
                </a:solidFill>
              </a:defRPr>
            </a:pPr>
            <a:r>
              <a:rPr sz="1125">
                <a:solidFill>
                  <a:srgbClr val="C3CBDA"/>
                </a:solidFill>
              </a:rPr>
              <a:t>不在首批账单出来前盲目扩招或盲目扩产。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2DE83-5DF6-4A5C-95CF-3FCB9F8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53"/>
          </a:solidFill>
          <a:ln xmlns:a="http://schemas.openxmlformats.org/drawingml/2006/main" w="0">
            <a:solidFill>
              <a:srgbClr val="354053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ACC03-3817-48B1-8EF0-FFC070F293C4}"/>
              </a:ext>
            </a:extLst>
          </p:cNvPr>
          <p:cNvGraphicFramePr/>
          <p:nvPr/>
        </p:nvGraphicFramePr>
        <p:xfrm>
          <a:off xmlns:a="http://schemas.openxmlformats.org/drawingml/2006/main" x="685800" y="2247900"/>
          <a:ext xmlns:a="http://schemas.openxmlformats.org/drawingml/2006/main" cx="57721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8950"/>
                <a:gridCol w="2743200"/>
              </a:tblGrid>
              <a:tr h="435429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首 3 个月资金项目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金额 / 说明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算力费用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¥13,000 / 月 × 3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设备租赁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8 台 × ¥300 / 月 × 3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场地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¥3,000 / 月；押一付三，首期支出 ¥12,000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创始人生活费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¥8,000 / 月 × 3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3 个月现金需求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64BFF"/>
                          </a:solidFill>
                        </a:rPr>
                        <a:t>¥82,200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4EC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融资 ¥100,000 后的现金缓冲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27449"/>
                          </a:solidFill>
                        </a:rPr>
                        <a:t>¥17,800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9FF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B5976-1D82-4943-97F6-3131F160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44386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51E30"/>
          </a:solidFill>
          <a:ln xmlns:a="http://schemas.openxmlformats.org/drawingml/2006/main" w="0">
            <a:solidFill>
              <a:srgbClr val="151E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128D7-D57E-4A0F-BF75-94CBE8C4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7F6F1"/>
                </a:solidFill>
              </a:defRPr>
            </a:pPr>
            <a:r>
              <a:rPr sz="1575" b="1">
                <a:solidFill>
                  <a:srgbClr val="F7F6F1"/>
                </a:solidFill>
              </a:rPr>
              <a:t>资金使用纪律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0F54D-B419-42B6-9CD6-740793C4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3524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C3CBDA"/>
                </a:solidFill>
              </a:defRPr>
            </a:pPr>
            <a:r>
              <a:rPr sz="1125">
                <a:solidFill>
                  <a:srgbClr val="C3CBDA"/>
                </a:solidFill>
              </a:rPr>
              <a:t>1. 首要目标是连续交付 12 部/月并留足结算前现金。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C3CBDA"/>
                </a:solidFill>
              </a:defRPr>
            </a:pPr>
            <a:r>
              <a:rPr sz="1125">
                <a:solidFill>
                  <a:srgbClr val="C3CBDA"/>
                </a:solidFill>
              </a:rPr>
              <a:t>2. 超过 ¥10 万的部分，优先作为现金缓冲和结算验证后的扩产储备。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C3CBDA"/>
                </a:solidFill>
              </a:defRPr>
            </a:pPr>
            <a:r>
              <a:rPr sz="1125">
                <a:solidFill>
                  <a:srgbClr val="C3CBDA"/>
                </a:solidFill>
              </a:rPr>
              <a:t>3. 不把未到账的播放结算预估当作可动用现金。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3F73B-787C-4EF8-8B29-6CF564E5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A8C7FF"/>
                </a:solidFill>
              </a:defRPr>
            </a:pPr>
            <a:r>
              <a:rPr sz="1050" b="1">
                <a:solidFill>
                  <a:srgbClr val="A8C7FF"/>
                </a:solidFill>
              </a:rPr>
              <a:t>首阶段不设固定工资，制作团队按项目规则参与分成。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6E9F7-A40A-496C-9B2A-007B8A0C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53"/>
          </a:solidFill>
          <a:ln xmlns:a="http://schemas.openxmlformats.org/drawingml/2006/main" w="0">
            <a:solidFill>
              <a:srgbClr val="3540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707D1-71BA-4720-AF5B-13EA81BC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新梦工作室｜海外 AI 短剧业务｜天使轮融资 BP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D3CBB-A42E-433A-A898-4C6A941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4997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5F14F-92F7-4315-A5A2-CFB636A8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4B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164BFF"/>
                </a:solidFill>
              </a:defRPr>
            </a:pPr>
            <a:r>
              <a:rPr sz="750" b="1">
                <a:solidFill>
                  <a:srgbClr val="164BFF"/>
                </a:solidFill>
              </a:rPr>
              <a:t>012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7D863-F0BA-44AD-8569-DCF237CA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02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投资合作提供两条清晰路径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01C0D-0E03-4FBC-A32B-B2AEE600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687386"/>
                </a:solidFill>
              </a:defRPr>
            </a:pPr>
            <a:r>
              <a:rPr sz="1125">
                <a:solidFill>
                  <a:srgbClr val="687386"/>
                </a:solidFill>
              </a:rPr>
              <a:t>股权投资与单剧合作独立核算；投资人不参与日常经营，期待提供渠道与资源支持。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4C42C-CFBA-4E49-A566-93F53AB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6A9F9-3ECE-4CC2-BE65-B8A73DA4ADB0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191000"/>
                <a:gridCol w="4629150"/>
              </a:tblGrid>
              <a:tr h="50800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项目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股权入股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7F6F1"/>
                          </a:solidFill>
                        </a:rPr>
                        <a:t>单剧合作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8DDE7"/>
                      </a:solidFill>
                      <a:prstDash val="solid"/>
                    </a:lnR>
                    <a:lnT w="9525">
                      <a:solidFill>
                        <a:srgbClr val="D8DDE7"/>
                      </a:solidFill>
                      <a:prstDash val="solid"/>
                    </a:lnT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0B102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金额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64BFF"/>
                          </a:solidFill>
                        </a:rPr>
                        <a:t>¥1 万 = 1%；单人最高 ¥10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4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127449"/>
                          </a:solidFill>
                        </a:rPr>
                        <a:t>单剧预算 ¥3,000；投资人最高 ¥1,500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E9F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本轮边界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目标 ¥8–10 万；本轮最多 ¥20 万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单笔独立核算，不自动取得股权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分配规则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公司注册时登记相应股份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先扣发行15%；余下公司60%、制作团队40%；合作人分享公司部分的一半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投资人回报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公司价值提升、股权转让或依法分配收益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参与前 3 次结算，后续长尾完全退出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B1020"/>
                          </a:solidFill>
                        </a:rPr>
                        <a:t>风险边界</a:t>
                      </a:r>
                    </a:p>
                  </a:txBody>
                  <a:tcPr marL="114300" marR="114300" marT="66675" marB="66675">
                    <a:lnL w="9525">
                      <a:solidFill>
                        <a:srgbClr val="D8DDE7"/>
                      </a:solidFill>
                      <a:prstDash val="solid"/>
                    </a:lnL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8A5C00"/>
                          </a:solidFill>
                        </a:rPr>
                        <a:t>无固定回报承诺，收益取决于公司经营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FF6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8A5C00"/>
                          </a:solidFill>
                        </a:rPr>
                        <a:t>无保本承诺，取决于项目真实结算</a:t>
                      </a:r>
                    </a:p>
                  </a:txBody>
                  <a:tcPr marL="114300" marR="114300" marT="66675" marB="66675">
                    <a:lnR w="9525">
                      <a:solidFill>
                        <a:srgbClr val="D8DDE7"/>
                      </a:solidFill>
                      <a:prstDash val="solid"/>
                    </a:lnR>
                    <a:lnB w="9525">
                      <a:solidFill>
                        <a:srgbClr val="D8DDE7"/>
                      </a:solidFill>
                      <a:prstDash val="solid"/>
                    </a:lnB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33B5B-1D4F-48BE-AF71-302803A4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975">
                <a:solidFill>
                  <a:srgbClr val="687386"/>
                </a:solidFill>
              </a:defRPr>
            </a:pPr>
            <a:r>
              <a:rPr sz="975">
                <a:solidFill>
                  <a:srgbClr val="687386"/>
                </a:solidFill>
              </a:rPr>
              <a:t>融资交割安排：新公司计划在 3 个月内注册；注册前资金进入创始人个人账户，双方书面约定份额，注册时完成公司登记。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D9C84-52A6-487A-8C55-07AD0E3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7"/>
          </a:solidFill>
          <a:ln xmlns:a="http://schemas.openxmlformats.org/drawingml/2006/main" w="0">
            <a:solidFill>
              <a:srgbClr val="D8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08316-9E87-4BFA-B082-649A7627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新梦工作室｜海外 AI 短剧业务｜天使轮融资 BP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2446F-6D5E-416A-A169-4C38F5DE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687386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687386"/>
                </a:solidFill>
              </a:defRPr>
            </a:pPr>
            <a:r>
              <a:rPr sz="750">
                <a:solidFill>
                  <a:srgbClr val="68738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6671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BC824-E7A5-4088-A671-6BC9B3BF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A8C7FF"/>
                </a:solidFill>
              </a:defRPr>
            </a:pPr>
            <a:r>
              <a:rPr sz="750" b="1">
                <a:solidFill>
                  <a:srgbClr val="A8C7FF"/>
                </a:solidFill>
              </a:rPr>
              <a:t>NEXT / 新梦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52A62-7E29-4738-A2D0-2A58015E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81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7F6F1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7F6F1"/>
                </a:solidFill>
              </a:defRPr>
            </a:pPr>
            <a:r>
              <a:rPr sz="3300" b="1">
                <a:solidFill>
                  <a:srgbClr val="F7F6F1"/>
                </a:solidFill>
              </a:rPr>
              <a:t>用第一批真实账单，</a:t>
            </a:r>
          </a:p>
          <a:p xmlns:a="http://schemas.openxmlformats.org/drawingml/2006/main">
            <a:pPr>
              <a:defRPr sz="3300" b="1">
                <a:solidFill>
                  <a:srgbClr val="F7F6F1"/>
                </a:solidFill>
              </a:defRPr>
            </a:pPr>
            <a:r>
              <a:rPr sz="3300" b="1">
                <a:solidFill>
                  <a:srgbClr val="F7F6F1"/>
                </a:solidFill>
              </a:rPr>
              <a:t>决定下一阶段增长速度。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D6A5-1CCF-4F06-9005-E7B2C4E9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C3CBDA"/>
                </a:solidFill>
              </a:defRPr>
            </a:pPr>
            <a:r>
              <a:rPr sz="1275">
                <a:solidFill>
                  <a:srgbClr val="C3CBDA"/>
                </a:solidFill>
              </a:rPr>
              <a:t>2026 年 10 月底前完成场地与设备配置，进入稳定生产；第 4 个月开始，按项目真实 ROI 与 3 个月现金流压力，决定保持、扩产或调整。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079B5-E87D-4CB4-A894-FD538CE8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58"/>
          </a:solidFill>
          <a:ln xmlns:a="http://schemas.openxmlformats.org/drawingml/2006/main" w="0">
            <a:solidFill>
              <a:srgbClr val="3C46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20F61-A4B1-45F7-B3BC-D83ECA23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A8C7FF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A8C7FF"/>
                </a:solidFill>
              </a:defRPr>
            </a:pPr>
            <a:r>
              <a:rPr sz="3000" b="1">
                <a:solidFill>
                  <a:srgbClr val="A8C7FF"/>
                </a:solidFill>
              </a:rPr>
              <a:t>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38CCD-0F99-4591-B291-F9D47FCE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C3CBDA"/>
                </a:solidFill>
              </a:defRPr>
            </a:pPr>
            <a:r>
              <a:rPr sz="1050">
                <a:solidFill>
                  <a:srgbClr val="C3CBDA"/>
                </a:solidFill>
              </a:rPr>
              <a:t>海外本土剧本库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612A9-B37E-4BAC-A1A4-4554AD2E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482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38D996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38D996"/>
                </a:solidFill>
              </a:defRPr>
            </a:pPr>
            <a:r>
              <a:rPr sz="3000" b="1">
                <a:solidFill>
                  <a:srgbClr val="38D996"/>
                </a:solidFill>
              </a:rPr>
              <a:t>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1F49B-EBE1-4148-9DC8-CA12F9B1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C3CBDA"/>
                </a:solidFill>
              </a:defRPr>
            </a:pPr>
            <a:r>
              <a:rPr sz="1050">
                <a:solidFill>
                  <a:srgbClr val="C3CBDA"/>
                </a:solidFill>
              </a:rPr>
              <a:t>新梦 Studio + 心术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CE655-4E5D-4F4D-8044-2EFCC6ED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DDF66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DDF66B"/>
                </a:solidFill>
              </a:defRPr>
            </a:pPr>
            <a:r>
              <a:rPr sz="3000" b="1">
                <a:solidFill>
                  <a:srgbClr val="DDF66B"/>
                </a:solidFill>
              </a:rPr>
              <a:t>纪律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E935D-256C-4C86-8508-AE5F5FFB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C3CBDA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C3CBDA"/>
                </a:solidFill>
              </a:defRPr>
            </a:pPr>
            <a:r>
              <a:rPr sz="1050">
                <a:solidFill>
                  <a:srgbClr val="C3CBDA"/>
                </a:solidFill>
              </a:rPr>
              <a:t>以真实结算驱动扩张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36159-5430-4CDF-AFD8-BFF06385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38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新梦工作室｜海外 AI 短剧业务｜天使轮融资 BP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6FA4A-E815-4365-99F0-0ED3B065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>
                <a:solidFill>
                  <a:srgbClr val="99A5B7"/>
                </a:solidFill>
              </a:defRPr>
            </a:defPPr>
          </a:lstStyle>
          <a:p xmlns:a="http://schemas.openxmlformats.org/drawingml/2006/main">
            <a:pPr algn="r">
              <a:defRPr sz="750">
                <a:solidFill>
                  <a:srgbClr val="99A5B7"/>
                </a:solidFill>
              </a:defRPr>
            </a:pPr>
            <a:r>
              <a:rPr sz="750">
                <a:solidFill>
                  <a:srgbClr val="99A5B7"/>
                </a:solidFill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70597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2026-10-22T08:41:41.2840000Z</dcterms:created>
  <dcterms:modified xsi:type="dcterms:W3CDTF">2026-10-22T08:41:41.2840000Z</dcterms:modified>
</coreProperties>
</file>